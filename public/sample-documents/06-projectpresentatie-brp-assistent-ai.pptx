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XKOpaSsfwk/Cb3tS+/i/onOw3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BRP-Assistent AI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Projectpresentatie — Rijksdienst voor Identiteitsgegevens (RvIG)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FA8CC"/>
                </a:solidFill>
                <a:latin typeface="Calibri"/>
                <a:ea typeface="Calibri"/>
                <a:cs typeface="Calibri"/>
                <a:sym typeface="Calibri"/>
              </a:rPr>
              <a:t>14 maart 2026  ·  Sanne Visser, Mark de Groot, Joost Bakker, Femke Hoek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4A80"/>
          </a:solidFill>
          <a:ln cap="flat" cmpd="sng" w="12700">
            <a:solidFill>
              <a:srgbClr val="1A4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A8CC"/>
                </a:solidFill>
                <a:latin typeface="Calibri"/>
                <a:ea typeface="Calibri"/>
                <a:cs typeface="Calibri"/>
                <a:sym typeface="Calibri"/>
              </a:rPr>
              <a:t>Vertrouwelijk — intern gebruik Ministerie van Binnenlandse Zaken en Koninkrijksrelaties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1280160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97280" y="1280160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Aanleiding &amp; probleemstelling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847088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97280" y="1847088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Beoogde oplossing — AI-assistent op MijnOverheid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414016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97280" y="2414016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Systeemarchitectuur (technisch ontwerp)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2980944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2980944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Gebruikersflow &amp; UX-schets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3547872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97280" y="3547872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Privacy &amp; gegevensbescherming (AVG/DPIA)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4114800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7280" y="4114800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Risico's &amp; mitigerende maatregelen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4681728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97280" y="4681728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Planning &amp; mijlpalen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5248656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97280" y="5248656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Vragen &amp; besluitvorming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Aanleiding &amp; Probleemstelling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40080" y="137160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Jaarlijks 1,2 miljoen bellers naar de RvIG-informatielijn met vragen over de eigen registratie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202996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68% van de vragen betreft standaardinformatie die ook digitaal beschikbaar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2688336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Gemiddelde wachttijd: 12 minuten — burgers ervaren dit als frustrerend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40080" y="334670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Kosten per telefoongesprek: €14,50 — totaal ca. €17,4 mln per jaar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4005072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Wettelijke plicht tot begrijpelijke informatieverstrekking (Awb art. 3:45)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0080" y="466344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Bestaande FAQ-pagina's zijn statisch en niet gepersonaliseerd op de persoonslijst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40080" y="544068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Doel: 30% reductie van telefonisch contact in 2027 via een AI-gedreven zelfhulpmodule.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Systeemarchitectuur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315200" y="128016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LLM: RAG-architectuur op Azure OpenAI (GPT-4o)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315200" y="2084832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Grounding: Wet BRP en Logisch Ontwerp + persoonlijke persoonslijstdata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315200" y="2889504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Auth: DigiD Hoog — BSN nooit naar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315200" y="3694176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Hosting: Azure Government Cloud (NL-regio)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Zie PSA bijlage A voor volledig technisch ontwerp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80150"/>
            <a:ext cx="6657476" cy="332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Gebruikersflow — Burger &amp; AI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46634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1.  Burger logt in via DigiD Hoog op MijnOverheid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983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2.  Navigeert naar "Uitleg bij mijn persoonsgegevens"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530352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3.  Stelt vraag in natuurlijke taal (tekst of spraak)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56235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4.  AI genereert antwoord gebaseerd op persoonlijke persoonslijst + wetgeving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59436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5.  Burger kan vervolgvragen stellen of escaleren naar medewerker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62636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6.  Gesprek wordt niet bewaard (privacy by design)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lp me visualiseren van de gebruikersflow van burger &amp; AI met de volgende punten: 1.  Burger logt in via DigiD Hoog op MijnOverheid, 2.  Navigeert naar &quot;Uitleg bij mijn persoonsgegevens&quot;, 3.  Stelt vraag in natuurlijke taal (tekst of spraak), 4.  AI genereert antwoord gebaseerd op persoonlijke persoonslijst + wetgeving, 5.  Burger kan vervolgvragen stellen of escaleren naar medewerker&#10;, 6.  Gesprek wordt niet bewaard (privacy by design)&#10;&#10;&#10;&#10;&#10;" id="85" name="Google Shape;8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1188725"/>
            <a:ext cx="6710075" cy="335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E9F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Privacy &amp; AVG — Kernpunten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57200" y="132588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Grondslag: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108960" y="132588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Wettelijke taak RvIG (Awb + Wet BRP) — geen toestemming vereist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194767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Doelbinding: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108960" y="194767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Uitsluitend uitleg bij eigen persoonslijst — geen profilering, geen marketing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2569464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Dataminimalisatie: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108960" y="25694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Alleen de actuele persoonslijst wordt meegestuurd als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3191256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BSN-bescherming: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108960" y="3191256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BSN wordt gemaskeerd vóór doorzending naar het AI-model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3813048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Bewaartermijn: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108960" y="381304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Geen gespreksopslag — sessiedata verdwijnt bij sluiten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443484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DPIA: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108960" y="443484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Uitgebreide DPIA vereist vóór go-live (zie apart DPIA-document)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57200" y="505663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Verwerkersovereenkomst: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108960" y="505663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VOK met Microsoft/Azure in voorbereiding — DPA-clausules opgenomen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Risico's &amp; Mitigerende Maatregelen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" y="1188720"/>
            <a:ext cx="406908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30352" y="118872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663440" y="1188720"/>
            <a:ext cx="105156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736592" y="118872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806440" y="1188720"/>
            <a:ext cx="105156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879592" y="118872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949440" y="1188720"/>
            <a:ext cx="452628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022592" y="118872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Maatregel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1645920"/>
            <a:ext cx="40690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530352" y="1664208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Hallucination — AI geeft onjuiste uitleg over de registratie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663440" y="1645920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736592" y="1664208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806440" y="1645920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879592" y="1664208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949440" y="1645920"/>
            <a:ext cx="45262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022592" y="1664208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Disclaimer + escalatie naar medewerker; antwoorden voorzien van bronvermelding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2395728"/>
            <a:ext cx="40690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30352" y="2414016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Dataleak BSN via promptinjectie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663440" y="2395728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736592" y="2414016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Laag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806440" y="2395728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879592" y="2414016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Zeer hoog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949440" y="2395728"/>
            <a:ext cx="45262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022592" y="2414016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BSN-masking voor LLM; red-team tests vóór go-live; pen-test verplicht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3145536"/>
            <a:ext cx="40690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30352" y="3163824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Overbelasting systeem bij verhuispiek (juli–september)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663440" y="3145536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736592" y="3163824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806440" y="3145536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879592" y="3163824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949440" y="3145536"/>
            <a:ext cx="45262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022592" y="3163824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Auto-scaling Azure; load-test op 5× gemiddeld verkeer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7200" y="3895344"/>
            <a:ext cx="40690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30352" y="3913632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Weerstand medewerkers RvIG-informatielijn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663440" y="3895344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736592" y="3913632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806440" y="3895344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879592" y="3913632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Laag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949440" y="3895344"/>
            <a:ext cx="45262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022592" y="391363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Communicatieplan; AI als ondersteuning, geen vervanging positioneren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4645152"/>
            <a:ext cx="40690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30352" y="4663440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Afhankelijkheid Azure OpenAI (vendor lock-in)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663440" y="4645152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736592" y="4663440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Laag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806440" y="4645152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879592" y="4663440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949440" y="4645152"/>
            <a:ext cx="45262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7022592" y="466344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Abstractielaag in architectuur; jaarlijkse evaluatie alternatieve modellen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Planning &amp; Mijlpalen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57200" y="1344168"/>
            <a:ext cx="256032" cy="256032"/>
          </a:xfrm>
          <a:prstGeom prst="ellipse">
            <a:avLst/>
          </a:prstGeom>
          <a:solidFill>
            <a:srgbClr val="1A6B3C"/>
          </a:solidFill>
          <a:ln cap="flat" cmpd="sng" w="1270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22960" y="12801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Q1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377440" y="128016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Kickoff &amp; DPIA gestart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875520" y="128016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gereed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1892808"/>
            <a:ext cx="256032" cy="256032"/>
          </a:xfrm>
          <a:prstGeom prst="ellipse">
            <a:avLst/>
          </a:prstGeom>
          <a:solidFill>
            <a:srgbClr val="1A6B3C"/>
          </a:solidFill>
          <a:ln cap="flat" cmpd="sng" w="1270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22960" y="18288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Q1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377440" y="182880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PSA goedgekeurd door architectuurboard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875520" y="182880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gereed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244144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822960" y="23774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Q2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377440" y="237744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DPIA afgerond &amp; AP-consultatie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299008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822960" y="29260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Q2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377440" y="292608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Prototype intern beschikbaar (medewerkers RvIG)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57200" y="353872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822960" y="34747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377440" y="347472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Pen-test &amp; security-review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408736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22960" y="40233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377440" y="402336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Verwerkersovereenkomst Microsoft getekend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463600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22960" y="45720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377440" y="457200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Pilotlancering (5.000 gebruikers)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518464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22960" y="51206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377440" y="512064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Evaluatie pilot + besluit brede uitrol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573328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822960" y="56692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Q2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377440" y="566928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Volledige go-live op MijnOverheid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Vragen &amp; Besluitvorming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371600" y="26517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Ter besluitvorming vandaag: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Akkoord op het projectvoorstel en het beschikbaar stellen van het budget (€2,4 mln)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Mandaat voor het starten van de DPIA en het aanvragen van AP-consultatie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Aanwijzen van een AVG-functionaris als vast aanspreekpunt voor dit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A8CC"/>
                </a:solidFill>
                <a:latin typeface="Calibri"/>
                <a:ea typeface="Calibri"/>
                <a:cs typeface="Calibri"/>
                <a:sym typeface="Calibri"/>
              </a:rPr>
              <a:t>sanne.visser@rvig.nl  ·  06-21458800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2026-06-25T07:33:49Z</dcterms:created>
  <dc:creator>Ministerie van Binnenlandse Zaken en Koninkrijksrelaties</dc:creator>
</cp:coreProperties>
</file>